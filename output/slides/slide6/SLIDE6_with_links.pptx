
<file path=[Content_Types].xml><?xml version="1.0" encoding="utf-8"?>
<Types xmlns="http://schemas.openxmlformats.org/package/2006/content-types">
  <Default Extension="svg" ContentType="image/svg+xml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drishti_slide6.png"/><Relationship Id="rId5" Type="http://schemas.openxmlformats.org/officeDocument/2006/relationships/image" Target="../media/drishti_slide6.svg"/><Relationship Id="rId6" Type="http://schemas.openxmlformats.org/officeDocument/2006/relationships/hyperlink" Target="https://doi.org/10.1109/CVPR.1996.517097" TargetMode="External"/><Relationship Id="rId7" Type="http://schemas.openxmlformats.org/officeDocument/2006/relationships/hyperlink" Target="https://doi.org/10.1145/237170.237269" TargetMode="External"/><Relationship Id="rId8" Type="http://schemas.openxmlformats.org/officeDocument/2006/relationships/hyperlink" Target="https://doi.org/10.1007/3-540-44480-7_21" TargetMode="External"/><Relationship Id="rId9" Type="http://schemas.openxmlformats.org/officeDocument/2006/relationships/hyperlink" Target="https://doi.org/10.1109/TPAMI.2007.1166" TargetMode="External"/><Relationship Id="rId10" Type="http://schemas.openxmlformats.org/officeDocument/2006/relationships/hyperlink" Target="https://doi.org/10.1007/978-3-642-15552-9_3" TargetMode="External"/><Relationship Id="rId11" Type="http://schemas.openxmlformats.org/officeDocument/2006/relationships/hyperlink" Target="https://doi.org/10.1109/CVPR.2016.445" TargetMode="External"/><Relationship Id="rId12" Type="http://schemas.openxmlformats.org/officeDocument/2006/relationships/hyperlink" Target="https://arxiv.org/abs/1801.09847" TargetMode="External"/><Relationship Id="rId13" Type="http://schemas.openxmlformats.org/officeDocument/2006/relationships/hyperlink" Target="https://arxiv.org/abs/2006.13566" TargetMode="External"/><Relationship Id="rId14" Type="http://schemas.openxmlformats.org/officeDocument/2006/relationships/hyperlink" Target="https://arxiv.org/abs/2105.15203" TargetMode="External"/><Relationship Id="rId15" Type="http://schemas.openxmlformats.org/officeDocument/2006/relationships/hyperlink" Target="https://arxiv.org/abs/2306.13643" TargetMode="External"/><Relationship Id="rId16" Type="http://schemas.openxmlformats.org/officeDocument/2006/relationships/hyperlink" Target="https://arxiv.org/abs/2509.13414" TargetMode="External"/><Relationship Id="rId17" Type="http://schemas.openxmlformats.org/officeDocument/2006/relationships/hyperlink" Target="https://github.com/Ajith-Praveen/Drishti-3D" TargetMode="External"/><Relationship Id="rId18" Type="http://schemas.openxmlformats.org/officeDocument/2006/relationships/hyperlink" Target="https://doi.org/10.5281/zenodo.22671839" TargetMode="External"/><Relationship Id="rId19" Type="http://schemas.openxmlformats.org/officeDocument/2006/relationships/hyperlink" Target="https://pnoa.ign.es/" TargetMode="External"/><Relationship Id="rId20" Type="http://schemas.openxmlformats.org/officeDocument/2006/relationships/hyperlink" Target="https://github.com/Ajith-Praveen/Drishti-3D/blob/main/evidence/validation-2026-09-28.md" TargetMode="External"/><Relationship Id="rId21" Type="http://schemas.openxmlformats.org/officeDocument/2006/relationships/hyperlink" Target="https://github.com/Ajith-Praveen/Drishti-3D/blob/main/evidence/validation-2026-09-28.md#baseline-colmap-on-exactly-the-same-keyframes" TargetMode="External"/><Relationship Id="rId22" Type="http://schemas.openxmlformats.org/officeDocument/2006/relationships/hyperlink" Target="https://github.com/Ajith-Praveen/Drishti-3D" TargetMode="External"/><Relationship Id="rId23" Type="http://schemas.openxmlformats.org/officeDocument/2006/relationships/hyperlink" Target="https://13-234-83-238.sslip.io" TargetMode="Externa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Robos.Inc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00" name="Slide 6 graphic" descr="Research foundations timeline, datasets, evidence and project links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01" name="Link: Plane sweep"/>
          <p:cNvSpPr txBox="1"/>
          <p:nvPr/>
        </p:nvSpPr>
        <p:spPr>
          <a:xfrm>
            <a:off x="354953" y="2148840"/>
            <a:ext cx="1722397" cy="21031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400" b="1" u="sng" dirty="0">
                <a:solidFill>
                  <a:srgbClr val="0563C1"/>
                </a:solidFill>
                <a:latin typeface="Arial"/>
                <a:cs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Plane sweep</a:t>
            </a:r>
          </a:p>
        </p:txBody>
      </p:sp>
      <p:sp>
        <p:nvSpPr>
          <p:cNvPr id="902" name="Link: TSDF fusion"/>
          <p:cNvSpPr txBox="1"/>
          <p:nvPr/>
        </p:nvSpPr>
        <p:spPr>
          <a:xfrm>
            <a:off x="1243584" y="3557016"/>
            <a:ext cx="1722397" cy="21031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400" b="1" u="sng" dirty="0">
                <a:solidFill>
                  <a:srgbClr val="0563C1"/>
                </a:solidFill>
                <a:latin typeface="Arial"/>
                <a:cs typeface="Aria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TSDF fusion</a:t>
            </a:r>
          </a:p>
        </p:txBody>
      </p:sp>
      <p:sp>
        <p:nvSpPr>
          <p:cNvPr id="903" name="Link: Bundle adjustment"/>
          <p:cNvSpPr txBox="1"/>
          <p:nvPr/>
        </p:nvSpPr>
        <p:spPr>
          <a:xfrm>
            <a:off x="2132215" y="2148840"/>
            <a:ext cx="1722397" cy="21031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400" b="1" u="sng" dirty="0">
                <a:solidFill>
                  <a:srgbClr val="0563C1"/>
                </a:solidFill>
                <a:latin typeface="Arial"/>
                <a:cs typeface="Arial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Bundle adjustment</a:t>
            </a:r>
          </a:p>
        </p:txBody>
      </p:sp>
      <p:sp>
        <p:nvSpPr>
          <p:cNvPr id="904" name="Link: SGM stereo"/>
          <p:cNvSpPr txBox="1"/>
          <p:nvPr/>
        </p:nvSpPr>
        <p:spPr>
          <a:xfrm>
            <a:off x="3020845" y="3557016"/>
            <a:ext cx="1722397" cy="21031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400" b="1" u="sng" dirty="0">
                <a:solidFill>
                  <a:srgbClr val="0563C1"/>
                </a:solidFill>
                <a:latin typeface="Arial"/>
                <a:cs typeface="Arial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SGM stereo</a:t>
            </a:r>
          </a:p>
        </p:txBody>
      </p:sp>
      <p:sp>
        <p:nvSpPr>
          <p:cNvPr id="905" name="Link: BA in the large"/>
          <p:cNvSpPr txBox="1"/>
          <p:nvPr/>
        </p:nvSpPr>
        <p:spPr>
          <a:xfrm>
            <a:off x="3909476" y="2148840"/>
            <a:ext cx="1722397" cy="21031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400" b="1" u="sng" dirty="0">
                <a:solidFill>
                  <a:srgbClr val="0563C1"/>
                </a:solidFill>
                <a:latin typeface="Arial"/>
                <a:cs typeface="Arial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 in the large</a:t>
            </a:r>
          </a:p>
        </p:txBody>
      </p:sp>
      <p:sp>
        <p:nvSpPr>
          <p:cNvPr id="906" name="Link: COLMAP SfM"/>
          <p:cNvSpPr txBox="1"/>
          <p:nvPr/>
        </p:nvSpPr>
        <p:spPr>
          <a:xfrm>
            <a:off x="4798106" y="3557016"/>
            <a:ext cx="1722397" cy="21031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400" b="1" u="sng" dirty="0">
                <a:solidFill>
                  <a:srgbClr val="0563C1"/>
                </a:solidFill>
                <a:latin typeface="Arial"/>
                <a:cs typeface="Arial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COLMAP SfM</a:t>
            </a:r>
          </a:p>
        </p:txBody>
      </p:sp>
      <p:sp>
        <p:nvSpPr>
          <p:cNvPr id="907" name="Link: Open3D"/>
          <p:cNvSpPr txBox="1"/>
          <p:nvPr/>
        </p:nvSpPr>
        <p:spPr>
          <a:xfrm>
            <a:off x="5686737" y="2148840"/>
            <a:ext cx="1722397" cy="21031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400" b="1" u="sng" dirty="0">
                <a:solidFill>
                  <a:srgbClr val="0563C1"/>
                </a:solidFill>
                <a:latin typeface="Arial"/>
                <a:cs typeface="Arial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Open3D</a:t>
            </a:r>
          </a:p>
        </p:txBody>
      </p:sp>
      <p:sp>
        <p:nvSpPr>
          <p:cNvPr id="908" name="Link: DISK features"/>
          <p:cNvSpPr txBox="1"/>
          <p:nvPr/>
        </p:nvSpPr>
        <p:spPr>
          <a:xfrm>
            <a:off x="6575367" y="3557016"/>
            <a:ext cx="1722397" cy="21031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400" b="1" u="sng" dirty="0">
                <a:solidFill>
                  <a:srgbClr val="0563C1"/>
                </a:solidFill>
                <a:latin typeface="Arial"/>
                <a:cs typeface="Arial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DISK features</a:t>
            </a:r>
          </a:p>
        </p:txBody>
      </p:sp>
      <p:sp>
        <p:nvSpPr>
          <p:cNvPr id="909" name="Link: SegFormer"/>
          <p:cNvSpPr txBox="1"/>
          <p:nvPr/>
        </p:nvSpPr>
        <p:spPr>
          <a:xfrm>
            <a:off x="7463998" y="2148840"/>
            <a:ext cx="1722397" cy="21031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400" b="1" u="sng" dirty="0">
                <a:solidFill>
                  <a:srgbClr val="0563C1"/>
                </a:solidFill>
                <a:latin typeface="Arial"/>
                <a:cs typeface="Arial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SegFormer</a:t>
            </a:r>
          </a:p>
        </p:txBody>
      </p:sp>
      <p:sp>
        <p:nvSpPr>
          <p:cNvPr id="910" name="Link: LightGlue"/>
          <p:cNvSpPr txBox="1"/>
          <p:nvPr/>
        </p:nvSpPr>
        <p:spPr>
          <a:xfrm>
            <a:off x="8352628" y="3557016"/>
            <a:ext cx="1722397" cy="21031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400" b="1" u="sng" dirty="0">
                <a:solidFill>
                  <a:srgbClr val="0563C1"/>
                </a:solidFill>
                <a:latin typeface="Arial"/>
                <a:cs typeface="Arial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LightGlue</a:t>
            </a:r>
          </a:p>
        </p:txBody>
      </p:sp>
      <p:sp>
        <p:nvSpPr>
          <p:cNvPr id="911" name="Link: MapAnything"/>
          <p:cNvSpPr txBox="1"/>
          <p:nvPr/>
        </p:nvSpPr>
        <p:spPr>
          <a:xfrm>
            <a:off x="9241259" y="2148840"/>
            <a:ext cx="1722397" cy="21031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400" b="1" u="sng" dirty="0">
                <a:solidFill>
                  <a:srgbClr val="0563C1"/>
                </a:solidFill>
                <a:latin typeface="Arial"/>
                <a:cs typeface="Arial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MapAnything</a:t>
            </a:r>
          </a:p>
        </p:txBody>
      </p:sp>
      <p:sp>
        <p:nvSpPr>
          <p:cNvPr id="912" name="Link: DRISHTI-3D"/>
          <p:cNvSpPr txBox="1"/>
          <p:nvPr/>
        </p:nvSpPr>
        <p:spPr>
          <a:xfrm>
            <a:off x="10129889" y="3557016"/>
            <a:ext cx="1722397" cy="210312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/>
            <a:r>
              <a:rPr lang="en-US" sz="1400" b="1" u="sng" dirty="0">
                <a:solidFill>
                  <a:srgbClr val="B05400"/>
                </a:solidFill>
                <a:latin typeface="Arial"/>
                <a:cs typeface="Arial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DRISHTI-3D</a:t>
            </a:r>
          </a:p>
        </p:txBody>
      </p:sp>
      <p:sp>
        <p:nvSpPr>
          <p:cNvPr id="913" name="Link: PinPoint flight01 + 02"/>
          <p:cNvSpPr txBox="1"/>
          <p:nvPr/>
        </p:nvSpPr>
        <p:spPr>
          <a:xfrm>
            <a:off x="941832" y="4727448"/>
            <a:ext cx="3145536" cy="219456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/>
            <a:r>
              <a:rPr lang="en-US" sz="1400" b="1" u="sng" dirty="0">
                <a:solidFill>
                  <a:srgbClr val="0563C1"/>
                </a:solidFill>
                <a:latin typeface="Arial"/>
                <a:cs typeface="Arial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PinPoint flight01 + 02</a:t>
            </a:r>
          </a:p>
        </p:txBody>
      </p:sp>
      <p:sp>
        <p:nvSpPr>
          <p:cNvPr id="914" name="Link: IGN ortho + LiDAR DTM"/>
          <p:cNvSpPr txBox="1"/>
          <p:nvPr/>
        </p:nvSpPr>
        <p:spPr>
          <a:xfrm>
            <a:off x="941832" y="5230368"/>
            <a:ext cx="3145536" cy="219456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/>
            <a:r>
              <a:rPr lang="en-US" sz="1400" b="1" u="sng" dirty="0">
                <a:solidFill>
                  <a:srgbClr val="0563C1"/>
                </a:solidFill>
                <a:latin typeface="Arial"/>
                <a:cs typeface="Arial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IGN ortho + LiDAR DTM</a:t>
            </a:r>
          </a:p>
        </p:txBody>
      </p:sp>
      <p:sp>
        <p:nvSpPr>
          <p:cNvPr id="915" name="Link: Real-flight validation"/>
          <p:cNvSpPr txBox="1"/>
          <p:nvPr/>
        </p:nvSpPr>
        <p:spPr>
          <a:xfrm>
            <a:off x="4782312" y="4727448"/>
            <a:ext cx="3145536" cy="219456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/>
            <a:r>
              <a:rPr lang="en-US" sz="1400" b="1" u="sng" dirty="0">
                <a:solidFill>
                  <a:srgbClr val="0563C1"/>
                </a:solidFill>
                <a:latin typeface="Arial"/>
                <a:cs typeface="Arial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Real-flight validation</a:t>
            </a:r>
          </a:p>
        </p:txBody>
      </p:sp>
      <p:sp>
        <p:nvSpPr>
          <p:cNvPr id="916" name="Link: COLMAP, same frames"/>
          <p:cNvSpPr txBox="1"/>
          <p:nvPr/>
        </p:nvSpPr>
        <p:spPr>
          <a:xfrm>
            <a:off x="4782312" y="5230368"/>
            <a:ext cx="3145536" cy="219456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/>
            <a:r>
              <a:rPr lang="en-US" sz="1400" b="1" u="sng" dirty="0">
                <a:solidFill>
                  <a:srgbClr val="0563C1"/>
                </a:solidFill>
                <a:latin typeface="Arial"/>
                <a:cs typeface="Arial"/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COLMAP, same frames</a:t>
            </a:r>
          </a:p>
        </p:txBody>
      </p:sp>
      <p:sp>
        <p:nvSpPr>
          <p:cNvPr id="917" name="Link: github.com/Ajith-Praveen/Drishti-3D"/>
          <p:cNvSpPr txBox="1"/>
          <p:nvPr/>
        </p:nvSpPr>
        <p:spPr>
          <a:xfrm>
            <a:off x="8750808" y="4992624"/>
            <a:ext cx="2898648" cy="237744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/>
            <a:r>
              <a:rPr lang="en-US" sz="1400" u="sng" dirty="0">
                <a:solidFill>
                  <a:srgbClr val="0563C1"/>
                </a:solidFill>
                <a:latin typeface="Arial"/>
                <a:cs typeface="Arial"/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github.com/Ajith-Praveen/Drishti-3D</a:t>
            </a:r>
          </a:p>
        </p:txBody>
      </p:sp>
      <p:sp>
        <p:nvSpPr>
          <p:cNvPr id="918" name="Link: 13-234-83-238.sslip.io"/>
          <p:cNvSpPr txBox="1"/>
          <p:nvPr/>
        </p:nvSpPr>
        <p:spPr>
          <a:xfrm>
            <a:off x="8750808" y="5779008"/>
            <a:ext cx="2898648" cy="237744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/>
            <a:r>
              <a:rPr lang="en-US" sz="1400" u="sng" dirty="0">
                <a:solidFill>
                  <a:srgbClr val="0563C1"/>
                </a:solidFill>
                <a:latin typeface="Arial"/>
                <a:cs typeface="Arial"/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13-234-83-238.sslip.io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